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1675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E36C51-9E88-4BCF-A18E-403362080525}">
  <a:tblStyle styleId="{E4E36C51-9E88-4BCF-A18E-40336208052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31520" y="1828800"/>
            <a:ext cx="137160" cy="21945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FD1D1"/>
                </a:solidFill>
                <a:latin typeface="Montserrat"/>
                <a:ea typeface="Montserrat"/>
                <a:cs typeface="Montserrat"/>
                <a:sym typeface="Montserrat"/>
              </a:rPr>
              <a:t>SYSTEMS ANALYSIS REPORT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97280" y="1737360"/>
            <a:ext cx="10332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Elevate: Upgrading ABC's Customer Support Infrastructure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97280" y="3429000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9D6D8"/>
                </a:solidFill>
                <a:latin typeface="Lato"/>
                <a:ea typeface="Lato"/>
                <a:cs typeface="Lato"/>
                <a:sym typeface="Lato"/>
              </a:rPr>
              <a:t>A comparative analysis of </a:t>
            </a:r>
            <a:r>
              <a:rPr lang="en-US" sz="2000">
                <a:solidFill>
                  <a:srgbClr val="C9D6D8"/>
                </a:solidFill>
                <a:latin typeface="Lato"/>
                <a:ea typeface="Lato"/>
                <a:cs typeface="Lato"/>
                <a:sym typeface="Lato"/>
              </a:rPr>
              <a:t>help desk</a:t>
            </a:r>
            <a:r>
              <a:rPr b="0" i="0" lang="en-US" sz="2000" u="none" cap="none" strike="noStrike">
                <a:solidFill>
                  <a:srgbClr val="C9D6D8"/>
                </a:solidFill>
                <a:latin typeface="Lato"/>
                <a:ea typeface="Lato"/>
                <a:cs typeface="Lato"/>
                <a:sym typeface="Lato"/>
              </a:rPr>
              <a:t> platforms and our recommendation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97280" y="48463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D6D8"/>
                </a:solidFill>
                <a:latin typeface="Lato"/>
                <a:ea typeface="Lato"/>
                <a:cs typeface="Lato"/>
                <a:sym typeface="Lato"/>
              </a:rPr>
              <a:t>Daniela Zamorano-Martinez  ·  Habeeb Ajibode  ·  Harmanjit Singh  ·  Veronica Snyder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9D6D8"/>
                </a:solidFill>
                <a:latin typeface="Lato"/>
                <a:ea typeface="Lato"/>
                <a:cs typeface="Lato"/>
                <a:sym typeface="Lato"/>
              </a:rPr>
              <a:t>October 2026</a:t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3025" y="3822825"/>
            <a:ext cx="2748800" cy="27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822960" y="1645920"/>
            <a:ext cx="10607040" cy="1143000"/>
          </a:xfrm>
          <a:prstGeom prst="rect">
            <a:avLst/>
          </a:prstGeom>
          <a:solidFill>
            <a:srgbClr val="E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97280" y="1737360"/>
            <a:ext cx="10149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Recommendation: </a:t>
            </a:r>
            <a:r>
              <a:rPr lang="en-US" sz="22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b="0" i="0" lang="en-US" sz="22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dopt </a:t>
            </a:r>
            <a:r>
              <a:rPr b="1" i="0" lang="en-US" sz="22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Salesforce Service Cloud</a:t>
            </a:r>
            <a:r>
              <a:rPr b="0" i="0" lang="en-US" sz="22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 as ABC Company's new helpdesk platform.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22960" y="3063240"/>
            <a:ext cx="106071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-US" sz="19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1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roblem: </a:t>
            </a:r>
            <a:r>
              <a:rPr b="0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ABC </a:t>
            </a:r>
            <a:r>
              <a:rPr lang="en-US" sz="19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went from small firm into a</a:t>
            </a:r>
            <a:r>
              <a:rPr b="0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 mid-sized firm, but its call-logging system can't manage contracts, SLAs or routing.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What </a:t>
            </a:r>
            <a:r>
              <a:rPr b="1" lang="en-US" sz="19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b="1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e </a:t>
            </a:r>
            <a:r>
              <a:rPr b="1" lang="en-US" sz="19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b="1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id: </a:t>
            </a:r>
            <a:r>
              <a:rPr lang="en-US" sz="19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We c</a:t>
            </a:r>
            <a:r>
              <a:rPr b="0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ompared five helpdesk platforms against eight criteria drawn from ABC's requirements.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Why Service Cloud: </a:t>
            </a:r>
            <a:r>
              <a:rPr lang="en-US" sz="19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It</a:t>
            </a:r>
            <a:r>
              <a:rPr b="0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 met every requirement, scales with add-ons, and integrates with non-Salesforce tools.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Cost: </a:t>
            </a:r>
            <a:r>
              <a:rPr lang="en-US" sz="19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b="0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er-user licensing </a:t>
            </a:r>
            <a:r>
              <a:rPr lang="en-US" sz="19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is</a:t>
            </a:r>
            <a:r>
              <a:rPr b="0" i="0" lang="en-US" sz="19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 $25/month, so ABC pays only for the seats and permissions it needs.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ABC has outgrown a system built only to log calls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822960" y="1737360"/>
            <a:ext cx="25146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822960" y="1737360"/>
            <a:ext cx="2514600" cy="9144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005840" y="20116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Manual tracking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005840" y="2926080"/>
            <a:ext cx="2148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Technicians must personally follow up on every case; requests fall through the cracks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3520440" y="1737360"/>
            <a:ext cx="25146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520440" y="1737360"/>
            <a:ext cx="2514600" cy="9144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3703320" y="20116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No priorities or SLAs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3703320" y="2926080"/>
            <a:ext cx="2148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Tickets are handled in order received, not by customer contract or urgency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6217920" y="1737360"/>
            <a:ext cx="25146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217920" y="1737360"/>
            <a:ext cx="2514600" cy="9144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400800" y="20116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Manual hand-offs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400800" y="2926080"/>
            <a:ext cx="2148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Moving a case means notifying the next department by hand and chasing the resolution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8915400" y="1737360"/>
            <a:ext cx="25146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915400" y="1737360"/>
            <a:ext cx="2514600" cy="9144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9098280" y="20116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Desktop-only install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098280" y="2926080"/>
            <a:ext cx="2148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A Windows app installed on each PC, so updates are slow and load times long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The new system must automate the support process end to end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463040" y="161848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Customer &amp; staff profiles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463040" y="20299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Create and update profiles linked to contracts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217920" y="1691640"/>
            <a:ext cx="457200" cy="45720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21792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858000" y="161848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SLA management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858000" y="20299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Contract-based priorities with automated reminders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822960" y="2807208"/>
            <a:ext cx="457200" cy="45720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822960" y="28072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463040" y="273405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Automatic routing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463040" y="31455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Send cases to the right department without manual hand-offs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6217920" y="2807208"/>
            <a:ext cx="457200" cy="45720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217920" y="28072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858000" y="273405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Management reporting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858000" y="31455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Response time, resolution time and staff statistics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822960" y="3922776"/>
            <a:ext cx="457200" cy="45720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822960" y="39227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463040" y="3849624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Backups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463040" y="42611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Automated and manual system backups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6217920" y="3922776"/>
            <a:ext cx="457200" cy="45720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217920" y="39227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858000" y="3849624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Call history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858000" y="42611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Technicians see customer calls and details in one place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822960" y="5038344"/>
            <a:ext cx="457200" cy="45720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22960" y="50383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463040" y="496519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Third-party engineers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463040" y="53766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Store details and assign calls to outside engineers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6217920" y="5038344"/>
            <a:ext cx="457200" cy="45720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217920" y="50383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858000" y="4965192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Time-recording integration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858000" y="53766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Connect to ABC's existing time recording system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We evaluated five leading platforms against ABC's requirements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822960" y="1783080"/>
            <a:ext cx="1975104" cy="118872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822960" y="1783080"/>
            <a:ext cx="197510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Salesforce</a:t>
            </a:r>
            <a:br>
              <a:rPr b="1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 Cloud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2980944" y="1783080"/>
            <a:ext cx="1975104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2980944" y="1783080"/>
            <a:ext cx="197510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HubSpot</a:t>
            </a:r>
            <a:br>
              <a:rPr b="1" i="0" lang="en-US" sz="16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z="16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Service Hub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138928" y="1783080"/>
            <a:ext cx="1975104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5138928" y="1783080"/>
            <a:ext cx="197510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Freshdesk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7296912" y="1783080"/>
            <a:ext cx="1975104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7296912" y="1783080"/>
            <a:ext cx="197510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ManageEngine</a:t>
            </a:r>
            <a:br>
              <a:rPr b="1" i="0" lang="en-US" sz="16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z="16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ServiceDesk Plus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9454896" y="1783080"/>
            <a:ext cx="1975104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9454896" y="1783080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Xurrent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22960" y="3383280"/>
            <a:ext cx="106071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8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Criteria: </a:t>
            </a:r>
            <a:r>
              <a:rPr lang="en-US" sz="18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b="0" i="0" lang="en-US" sz="18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ustomer profiles, SLA rules, staff details, auto-routing, reporting, backups, call history, streamlined support.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8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Sources: </a:t>
            </a:r>
            <a:r>
              <a:rPr lang="en-US" sz="18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b="0" i="0" lang="en-US" sz="18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endor documentation and ABC's written requirements; in-person interviews were not available.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18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Also considered: </a:t>
            </a:r>
            <a:r>
              <a:rPr lang="en-US" sz="18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b="0" i="0" lang="en-US" sz="18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uilding custom software in-house, rejected as too slow and costly.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Service Cloud leads on SLA depth, routing and integration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/>
          </a:p>
        </p:txBody>
      </p:sp>
      <p:graphicFrame>
        <p:nvGraphicFramePr>
          <p:cNvPr id="187" name="Google Shape;187;p18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{E4E36C51-9E88-4BCF-A18E-403362080525}</a:tableStyleId>
              </a:tblPr>
              <a:tblGrid>
                <a:gridCol w="1600200"/>
                <a:gridCol w="2148850"/>
                <a:gridCol w="1828800"/>
                <a:gridCol w="1828800"/>
                <a:gridCol w="1828800"/>
                <a:gridCol w="18288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Criterion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142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Service Cloud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142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HubSpot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142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Freshdesk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142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ManageEngine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142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Xurrent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142A2E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SLA rules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Multi-tier escalation &amp; milestones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Basic only; no tiered </a:t>
                      </a:r>
                      <a:r>
                        <a:rPr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Flexible, multi-tier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Multi-level OLAs/SLAs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Multi-provider SLAs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Auto-routing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AI: capacity, availability, skills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Team rotation / ownership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Skill-based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Skills &amp; asset type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By service portfolio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Customer profiles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Unified sales + service view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Native, synced across hubs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Basic; needs integrations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Requesters &amp; assets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Users, org, SLAs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Reporting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Dashboards + AI insights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Cross-hub dashboards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Built-in + export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SLA &amp; technician metrics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Service dashboards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Backups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Salesforce Backup add-on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Cloud redundancy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Continuous (AWS)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Automated database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Cloud failover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Call history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Integrated, logged on profile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E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Built-in calling &amp; logging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Integrated cloud calls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Inbound call module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Third-party APIs only</a:t>
                      </a:r>
                      <a:endParaRPr/>
                    </a:p>
                  </a:txBody>
                  <a:tcPr marT="45725" marB="45725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HubSpot was the runner-up; building in-house was ruled out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822960" y="1737360"/>
            <a:ext cx="5166360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822960" y="1737360"/>
            <a:ext cx="5166360" cy="9144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1097280" y="201168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HubSpot Service Hub — runner-up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097280" y="2743200"/>
            <a:ext cx="46635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Strong native customer records and built-in calling.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SLAs limited to simple pipelines; no tiered </a:t>
            </a:r>
            <a:r>
              <a:rPr lang="en-US" sz="1700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rise</a:t>
            </a:r>
            <a:r>
              <a:rPr b="0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Integrates best with HubSpot's own tools, less so with others.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6263640" y="1737360"/>
            <a:ext cx="5166360" cy="4206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263640" y="1737360"/>
            <a:ext cx="5166360" cy="91440"/>
          </a:xfrm>
          <a:prstGeom prst="rect">
            <a:avLst/>
          </a:prstGeom>
          <a:solidFill>
            <a:srgbClr val="5F67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537960" y="201168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Custom in-house build — rejected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6537960" y="2743200"/>
            <a:ext cx="4663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Long development time and high cost.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Integrating outside platforms is harder in a home-built system.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0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No regulatory need forces ABC to keep data in-house.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Recommendation: Salesforce Service Cloud meets ABC's needs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822960" y="1737360"/>
            <a:ext cx="5166360" cy="1965960"/>
          </a:xfrm>
          <a:prstGeom prst="rect">
            <a:avLst/>
          </a:prstGeom>
          <a:solidFill>
            <a:srgbClr val="E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1097280" y="19659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Meets ABC's core requirements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1097280" y="2514600"/>
            <a:ext cx="466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latin typeface="Lato"/>
                <a:ea typeface="Lato"/>
                <a:cs typeface="Lato"/>
                <a:sym typeface="Lato"/>
              </a:rPr>
              <a:t>Profiles, contract SLAs, routing, reporting, backups and call history out of the box.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263640" y="1737360"/>
            <a:ext cx="5166360" cy="1965960"/>
          </a:xfrm>
          <a:prstGeom prst="rect">
            <a:avLst/>
          </a:prstGeom>
          <a:solidFill>
            <a:srgbClr val="E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37960" y="19659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Scales with ABC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537960" y="2514600"/>
            <a:ext cx="466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latin typeface="Lato"/>
                <a:ea typeface="Lato"/>
                <a:cs typeface="Lato"/>
                <a:sym typeface="Lato"/>
              </a:rPr>
              <a:t>Add-on packs and technician scheduling/dispatch as the company grows.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822960" y="3931920"/>
            <a:ext cx="5166360" cy="1965960"/>
          </a:xfrm>
          <a:prstGeom prst="rect">
            <a:avLst/>
          </a:prstGeom>
          <a:solidFill>
            <a:srgbClr val="E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097280" y="416052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Integrates widely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097280" y="4709159"/>
            <a:ext cx="466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latin typeface="Lato"/>
                <a:ea typeface="Lato"/>
                <a:cs typeface="Lato"/>
                <a:sym typeface="Lato"/>
              </a:rPr>
              <a:t>Connects to non-Salesforce tools and telephony systems, unlike HubSpot's hub-only focus.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6263640" y="3931920"/>
            <a:ext cx="5166360" cy="1965960"/>
          </a:xfrm>
          <a:prstGeom prst="rect">
            <a:avLst/>
          </a:prstGeom>
          <a:solidFill>
            <a:srgbClr val="E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537960" y="416052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Automates the busywork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537960" y="4709159"/>
            <a:ext cx="466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latin typeface="Lato"/>
                <a:ea typeface="Lato"/>
                <a:cs typeface="Lato"/>
                <a:sym typeface="Lato"/>
              </a:rPr>
              <a:t>Workflows trigger reminders, sort by priority and update records.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Each case moves through four automated stages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822960" y="1920240"/>
            <a:ext cx="2331720" cy="1280160"/>
          </a:xfrm>
          <a:prstGeom prst="roundRect">
            <a:avLst>
              <a:gd fmla="val 16667" name="adj"/>
            </a:avLst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822960" y="1920240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Support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22960" y="338328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Customer calls; agent opens profile and creates the case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3218688" y="2377440"/>
            <a:ext cx="347472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5DA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611879" y="1920240"/>
            <a:ext cx="2331720" cy="1280160"/>
          </a:xfrm>
          <a:prstGeom prst="roundRect">
            <a:avLst>
              <a:gd fmla="val 16667" name="adj"/>
            </a:avLst>
          </a:prstGeom>
          <a:solidFill>
            <a:srgbClr val="142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3611879" y="1920240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Development Team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3611879" y="338328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Investigates; resolves remotely when possible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6007608" y="2377440"/>
            <a:ext cx="347472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5DA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6400800" y="1920240"/>
            <a:ext cx="2331720" cy="1280160"/>
          </a:xfrm>
          <a:prstGeom prst="roundRect">
            <a:avLst>
              <a:gd fmla="val 16667" name="adj"/>
            </a:avLst>
          </a:prstGeom>
          <a:solidFill>
            <a:srgbClr val="142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400800" y="1920240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Technician Dispatch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400800" y="338328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Work order and appointment created from the case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8796528" y="2377440"/>
            <a:ext cx="347472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5DA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9189719" y="1920240"/>
            <a:ext cx="2331720" cy="1280160"/>
          </a:xfrm>
          <a:prstGeom prst="roundRect">
            <a:avLst>
              <a:gd fmla="val 16667" name="adj"/>
            </a:avLst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9189719" y="1920240"/>
            <a:ext cx="2331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Case Resolution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9189719" y="338328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Technician notes close the case automatically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822960" y="4892040"/>
            <a:ext cx="105613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097280" y="489204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Fits ABC's current teams: </a:t>
            </a:r>
            <a:r>
              <a:rPr b="0" i="0" lang="en-US" sz="16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Admin builds contracts and profiles, Development handles client support, and Infrastructure assists with larger issues.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Contracts set each case's priority and deadline automatically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822960" y="1691640"/>
            <a:ext cx="10561320" cy="960120"/>
          </a:xfrm>
          <a:prstGeom prst="rect">
            <a:avLst/>
          </a:prstGeom>
          <a:solidFill>
            <a:srgbClr val="E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1097280" y="1764792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1  Admin defines contract types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217920" y="1764792"/>
            <a:ext cx="502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Enterprise = 3-day resolution, Small business = 7-day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822960" y="2807208"/>
            <a:ext cx="10561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1097280" y="288036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2  Admin links contract to customer profile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6217920" y="288036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Contact people and notes kept on the profile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822960" y="3922776"/>
            <a:ext cx="10561320" cy="960120"/>
          </a:xfrm>
          <a:prstGeom prst="rect">
            <a:avLst/>
          </a:prstGeom>
          <a:solidFill>
            <a:srgbClr val="E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1097280" y="3995928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3  Agent attaches profile to a new case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217920" y="3995928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Deadline and priority fill in automatically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822960" y="5038344"/>
            <a:ext cx="10561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1097280" y="5111496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4  System sends reminders before SLA deadlines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217920" y="5111496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No case depends on someone remembering to follow up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ABC pays only for the licenses it uses, with daily backups built in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822960" y="1737360"/>
            <a:ext cx="333756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1097280" y="196596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E8C8C"/>
                </a:solidFill>
                <a:latin typeface="Montserrat"/>
                <a:ea typeface="Montserrat"/>
                <a:cs typeface="Montserrat"/>
                <a:sym typeface="Montserrat"/>
              </a:rPr>
              <a:t>$25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097280" y="2971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per user / month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1097280" y="3611880"/>
            <a:ext cx="2834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Starting license price; basic seats cover case creation, editing and customer viewing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4434840" y="1737360"/>
            <a:ext cx="333756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4709160" y="196596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E8C8C"/>
                </a:solidFill>
                <a:latin typeface="Montserrat"/>
                <a:ea typeface="Montserrat"/>
                <a:cs typeface="Montserrat"/>
                <a:sym typeface="Montserrat"/>
              </a:rPr>
              <a:t>$5–$500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4709160" y="2971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per month for add-ons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4709160" y="3611880"/>
            <a:ext cx="2834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Optional feature packs added only when the business needs them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8046720" y="1737360"/>
            <a:ext cx="3337560" cy="411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8321040" y="196596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E8C8C"/>
                </a:solidFill>
                <a:latin typeface="Montserrat"/>
                <a:ea typeface="Montserrat"/>
                <a:cs typeface="Montserrat"/>
                <a:sym typeface="Montserrat"/>
              </a:rPr>
              <a:t>Daily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8321040" y="297180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automated backups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8321040" y="3611880"/>
            <a:ext cx="2834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Salesforce Backup &amp; Recovery, plus manual backups before major updates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Current PCs should be tested against Salesforce's hardware guidelines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graphicFrame>
        <p:nvGraphicFramePr>
          <p:cNvPr id="291" name="Google Shape;291;p24"/>
          <p:cNvGraphicFramePr/>
          <p:nvPr/>
        </p:nvGraphicFramePr>
        <p:xfrm>
          <a:off x="822960" y="1737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{E4E36C51-9E88-4BCF-A18E-403362080525}</a:tableStyleId>
              </a:tblPr>
              <a:tblGrid>
                <a:gridCol w="3108950"/>
                <a:gridCol w="1737350"/>
                <a:gridCol w="1737350"/>
              </a:tblGrid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42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Minimum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42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Recommended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42A2E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Octane 2.0 browser score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20,000+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30,000+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3F3F3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Network latency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≤ 200 ms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≤ 150 ms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3F3F3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Download speed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≥ 1 Mbps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≥ 3 Mbps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3F3F3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RAM (free for Salesforce tabs)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 GB (2 GB)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>
                          <a:solidFill>
                            <a:srgbClr val="1A1D2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GB (3 GB)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3F3F3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24"/>
          <p:cNvSpPr/>
          <p:nvPr/>
        </p:nvSpPr>
        <p:spPr>
          <a:xfrm>
            <a:off x="7772400" y="1737360"/>
            <a:ext cx="3611880" cy="3291840"/>
          </a:xfrm>
          <a:prstGeom prst="rect">
            <a:avLst/>
          </a:prstGeom>
          <a:solidFill>
            <a:srgbClr val="E3F3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8046720" y="19202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Before rollout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8046720" y="2468880"/>
            <a:ext cx="31089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Run speed and Octane tests on the machines staff use daily. Any upgrades needed should be added to the final deployment cost.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5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0E8C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822960" y="41148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A1D21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0881360" y="6355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F6770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822947" y="1789885"/>
            <a:ext cx="106071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Approve </a:t>
            </a:r>
            <a:r>
              <a:rPr b="0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Salesforce Service Cloud as the helpdesk platform.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Test </a:t>
            </a:r>
            <a:r>
              <a:rPr b="0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b="0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urrent workstations and network against the technical requirements.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Define </a:t>
            </a:r>
            <a:r>
              <a:rPr b="0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b="0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ontract types and SLA resolution times for each customer tier.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r>
              <a:rPr b="0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license levels for each role: admins, technicians, directors.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E8C8C"/>
                </a:solidFill>
                <a:latin typeface="Calibri"/>
                <a:ea typeface="Calibri"/>
                <a:cs typeface="Calibri"/>
                <a:sym typeface="Calibri"/>
              </a:rPr>
              <a:t>▪  </a:t>
            </a:r>
            <a:r>
              <a:rPr b="1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Plan </a:t>
            </a:r>
            <a:r>
              <a:rPr b="0" i="0" lang="en-US" sz="2000" u="none" cap="none" strike="noStrike">
                <a:solidFill>
                  <a:srgbClr val="1A1D21"/>
                </a:solidFill>
                <a:latin typeface="Lato"/>
                <a:ea typeface="Lato"/>
                <a:cs typeface="Lato"/>
                <a:sym typeface="Lato"/>
              </a:rPr>
              <a:t>integration with the time recording system and third-party engineer access.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A2E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/>
          <p:nvPr/>
        </p:nvSpPr>
        <p:spPr>
          <a:xfrm>
            <a:off x="0" y="2573115"/>
            <a:ext cx="12191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/>
          </a:p>
        </p:txBody>
      </p:sp>
      <p:sp>
        <p:nvSpPr>
          <p:cNvPr id="308" name="Google Shape;308;p26"/>
          <p:cNvSpPr txBox="1"/>
          <p:nvPr/>
        </p:nvSpPr>
        <p:spPr>
          <a:xfrm>
            <a:off x="0" y="3566160"/>
            <a:ext cx="1219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